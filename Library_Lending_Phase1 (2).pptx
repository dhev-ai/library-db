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Lending Management System  |  Database Systems (BACSE202)  |  Phase 1 - Design Foundation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DESIGN FOUNDATION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Lending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22960" y="3337560"/>
            <a:ext cx="1280160" cy="45720"/>
          </a:xfrm>
          <a:prstGeom prst="rect">
            <a:avLst/>
          </a:prstGeom>
          <a:solidFill>
            <a:srgbClr val="C9A227"/>
          </a:solidFill>
          <a:ln w="3175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BACSE202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Staff: Dr Somasundaram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0" y="1097280"/>
            <a:ext cx="3931920" cy="4206240"/>
          </a:xfrm>
          <a:prstGeom prst="rect">
            <a:avLst/>
          </a:prstGeom>
          <a:solidFill>
            <a:srgbClr val="13294A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100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Jiyal Harshith V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212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25BCE0035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Dhevananth K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25BAI0136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Decker J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4407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25BCE0070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carries 30% completion  |  10 Marks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64008" cy="320040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2344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81912"/>
            <a:ext cx="331012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database-driven system to manage library books and lending to students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issue and receive books and keep records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reservations, fines and reports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0248" y="114300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0248" y="1143000"/>
            <a:ext cx="64008" cy="3200400"/>
          </a:xfrm>
          <a:prstGeom prst="rect">
            <a:avLst/>
          </a:prstGeom>
          <a:solidFill>
            <a:srgbClr val="2E8B62"/>
          </a:solidFill>
          <a:ln w="3175">
            <a:solidFill>
              <a:srgbClr val="2E8B6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71416" y="12344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71416" y="1581912"/>
            <a:ext cx="331012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who borrowed which book, and when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many copies of a book are available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due dates, returns and fines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74152" y="114300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74152" y="1143000"/>
            <a:ext cx="64008" cy="3200400"/>
          </a:xfrm>
          <a:prstGeom prst="rect">
            <a:avLst/>
          </a:prstGeom>
          <a:solidFill>
            <a:srgbClr val="D9822B"/>
          </a:solidFill>
          <a:ln w="3175">
            <a:solidFill>
              <a:srgbClr val="D982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2344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database system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1581912"/>
            <a:ext cx="331012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students and lending records are related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consistent, non-redundant storage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reliable queries and integrity rules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11274552" cy="1371600"/>
          </a:xfrm>
          <a:prstGeom prst="rect">
            <a:avLst/>
          </a:prstGeom>
          <a:solidFill>
            <a:srgbClr val="E8F0FA"/>
          </a:solidFill>
          <a:ln w="3175">
            <a:solidFill>
              <a:srgbClr val="E8F0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64008" cy="1371600"/>
          </a:xfrm>
          <a:prstGeom prst="rect">
            <a:avLst/>
          </a:prstGeom>
          <a:solidFill>
            <a:srgbClr val="0B1F3A"/>
          </a:solidFill>
          <a:ln w="3175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6634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establishes: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requirements, the ER/EER design, the relational model derived from it, and a schema normalized through 1NF, 2NF and 3NF. Implementation belongs to later phases.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solidFill>
            <a:srgbClr val="DCE9F7"/>
          </a:solidFill>
          <a:ln w="3175">
            <a:solidFill>
              <a:srgbClr val="DCE9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| 2 Marks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576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64008" cy="196596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2344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books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64592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authors, ISBNs and categories need one structured record instead of scattered lists.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0248" y="1143000"/>
            <a:ext cx="36576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0248" y="1143000"/>
            <a:ext cx="64008" cy="1965960"/>
          </a:xfrm>
          <a:prstGeom prst="rect">
            <a:avLst/>
          </a:prstGeom>
          <a:solidFill>
            <a:srgbClr val="2E8B62"/>
          </a:solidFill>
          <a:ln w="3175">
            <a:solidFill>
              <a:srgbClr val="2E8B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1416" y="12344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borrowers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164592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details and their borrowing must be identifiable and consistent.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143000"/>
            <a:ext cx="36576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3296" y="1143000"/>
            <a:ext cx="64008" cy="1965960"/>
          </a:xfrm>
          <a:prstGeom prst="rect">
            <a:avLst/>
          </a:prstGeom>
          <a:solidFill>
            <a:srgbClr val="D9822B"/>
          </a:solidFill>
          <a:ln w="3175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84464" y="12344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and returns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164592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issue and return needs a dated record with its status.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36576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91840"/>
            <a:ext cx="64008" cy="196596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3832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tracking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7947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copies available must reflect current lending.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70248" y="3291840"/>
            <a:ext cx="36576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0248" y="3291840"/>
            <a:ext cx="64008" cy="1965960"/>
          </a:xfrm>
          <a:prstGeom prst="rect">
            <a:avLst/>
          </a:prstGeom>
          <a:solidFill>
            <a:srgbClr val="2E8B62"/>
          </a:solidFill>
          <a:ln w="3175">
            <a:solidFill>
              <a:srgbClr val="2E8B6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71416" y="33832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/ fine tracking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71416" y="37947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returns and damage must be recorded as fines with payment status.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83296" y="3291840"/>
            <a:ext cx="36576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3291840"/>
            <a:ext cx="64008" cy="1965960"/>
          </a:xfrm>
          <a:prstGeom prst="rect">
            <a:avLst/>
          </a:prstGeom>
          <a:solidFill>
            <a:srgbClr val="D9822B"/>
          </a:solidFill>
          <a:ln w="3175">
            <a:solidFill>
              <a:srgbClr val="D982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4464" y="33832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4464" y="37947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or conflicting data causes update errors and unreliable reports.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5532120"/>
            <a:ext cx="11274552" cy="731520"/>
          </a:xfrm>
          <a:prstGeom prst="rect">
            <a:avLst/>
          </a:prstGeom>
          <a:solidFill>
            <a:srgbClr val="E8F0FA"/>
          </a:solidFill>
          <a:ln w="3175">
            <a:solidFill>
              <a:srgbClr val="E8F0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532120"/>
            <a:ext cx="64008" cy="731520"/>
          </a:xfrm>
          <a:prstGeom prst="rect">
            <a:avLst/>
          </a:prstGeom>
          <a:solidFill>
            <a:srgbClr val="0B1F3A"/>
          </a:solidFill>
          <a:ln w="3175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5532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lending system for books, students, administrators, reservations, fines and reports - nothing beyond this.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solidFill>
            <a:srgbClr val="DCE9F7"/>
          </a:solidFill>
          <a:ln w="3175">
            <a:solidFill>
              <a:srgbClr val="DCE9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| 2 Marks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532120" cy="411480"/>
          </a:xfrm>
          <a:prstGeom prst="rect">
            <a:avLst/>
          </a:prstGeom>
          <a:solidFill>
            <a:srgbClr val="0B1F3A"/>
          </a:solidFill>
          <a:ln w="3175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43000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55321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916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books with title, author, ISBN and copies available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books into categories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student records (department, join year, contact details)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lending: issue date, due date, return date, status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students to reserve books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fines for overdue returns and book damage; record paid status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(username, password) to manage books and students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produces reports (type, generated date)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1143000"/>
            <a:ext cx="5532120" cy="411480"/>
          </a:xfrm>
          <a:prstGeom prst="rect">
            <a:avLst/>
          </a:prstGeom>
          <a:solidFill>
            <a:srgbClr val="1F4E8C"/>
          </a:solidFill>
          <a:ln w="3175">
            <a:solidFill>
              <a:srgbClr val="1F4E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99632" y="1143000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9632" y="1554480"/>
            <a:ext cx="55321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8232" y="16916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integrity: keys and foreign keys keep records valid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 no conflicting copies of the same fact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redundancy: schema normalized to 3NF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dates, availability counts and fine amounts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 access (credentials stored for admins only)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and extensibility of the design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documented design before implementation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/ EER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solidFill>
            <a:srgbClr val="DCE9F7"/>
          </a:solidFill>
          <a:ln w="3175">
            <a:solidFill>
              <a:srgbClr val="DCE9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| 3 Marks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74552" cy="777240"/>
          </a:xfrm>
          <a:prstGeom prst="rect">
            <a:avLst/>
          </a:prstGeom>
          <a:solidFill>
            <a:srgbClr val="E8F0FA"/>
          </a:solidFill>
          <a:ln w="3175">
            <a:solidFill>
              <a:srgbClr val="E8F0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64008" cy="777240"/>
          </a:xfrm>
          <a:prstGeom prst="rect">
            <a:avLst/>
          </a:prstGeom>
          <a:solidFill>
            <a:srgbClr val="0B1F3A"/>
          </a:solidFill>
          <a:ln w="3175">
            <a:solidFill>
              <a:srgbClr val="0B1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0972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ER/EER?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data conceptually before tables are created. EER adds specialization (superclass / subclass) to the basic ER model.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13055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48840"/>
            <a:ext cx="64008" cy="329184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2402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697480"/>
            <a:ext cx="1783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ER: 7 (Admin, Category, Report, Student, Book, Lending Record, Fine). EER: 15, adding Person and subclasses.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148840"/>
            <a:ext cx="213055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148840"/>
            <a:ext cx="64008" cy="3291840"/>
          </a:xfrm>
          <a:prstGeom prst="rect">
            <a:avLst/>
          </a:prstGeom>
          <a:solidFill>
            <a:srgbClr val="2E8B62"/>
          </a:solidFill>
          <a:ln w="3175">
            <a:solidFill>
              <a:srgbClr val="2E8B6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4368" y="22402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944368" y="2697480"/>
            <a:ext cx="1783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such as title, isbn, due_date, amount, department.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2148840"/>
            <a:ext cx="213055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2148840"/>
            <a:ext cx="64008" cy="3291840"/>
          </a:xfrm>
          <a:prstGeom prst="rect">
            <a:avLst/>
          </a:prstGeom>
          <a:solidFill>
            <a:srgbClr val="D9822B"/>
          </a:solidFill>
          <a:ln w="3175">
            <a:solidFill>
              <a:srgbClr val="D982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30368" y="22402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2697480"/>
            <a:ext cx="1783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Books, Makes, Involves, Generates, Reserves, Classifies, Produces.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0" y="2148840"/>
            <a:ext cx="213055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2148840"/>
            <a:ext cx="64008" cy="329184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16368" y="22402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16368" y="2697480"/>
            <a:ext cx="1783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(underlined), e.g. book_id, student_id, lending_id.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01200" y="2148840"/>
            <a:ext cx="213055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0" y="2148840"/>
            <a:ext cx="64008" cy="3291840"/>
          </a:xfrm>
          <a:prstGeom prst="rect">
            <a:avLst/>
          </a:prstGeom>
          <a:solidFill>
            <a:srgbClr val="2E8B62"/>
          </a:solidFill>
          <a:ln w="3175">
            <a:solidFill>
              <a:srgbClr val="2E8B6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02368" y="22402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Cardinalities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02368" y="2697480"/>
            <a:ext cx="1783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1:N, 1:1 and M:N (Reserves), shown on the connectors.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623560"/>
            <a:ext cx="11274552" cy="640080"/>
          </a:xfrm>
          <a:prstGeom prst="rect">
            <a:avLst/>
          </a:prstGeom>
          <a:solidFill>
            <a:srgbClr val="E8F0FA"/>
          </a:solidFill>
          <a:ln w="3175">
            <a:solidFill>
              <a:srgbClr val="E8F0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623560"/>
            <a:ext cx="64008" cy="640080"/>
          </a:xfrm>
          <a:prstGeom prst="rect">
            <a:avLst/>
          </a:prstGeom>
          <a:solidFill>
            <a:srgbClr val="0B1F3A"/>
          </a:solidFill>
          <a:ln w="3175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shows the core entities; EER adds Person, Student and Book specializations and the Fine types.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solidFill>
            <a:srgbClr val="DCE9F7"/>
          </a:solidFill>
          <a:ln w="3175">
            <a:solidFill>
              <a:srgbClr val="DCE9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| 3 Marks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58608" y="2526286"/>
            <a:ext cx="0" cy="184727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0920" y="2711013"/>
            <a:ext cx="5328666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0920" y="2711013"/>
            <a:ext cx="0" cy="106573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36373" y="2711013"/>
            <a:ext cx="0" cy="106573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48120" y="2711013"/>
            <a:ext cx="0" cy="106573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9586" y="2711013"/>
            <a:ext cx="0" cy="106573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6373" y="3385977"/>
            <a:ext cx="0" cy="213147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48120" y="3385977"/>
            <a:ext cx="0" cy="213147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9586" y="3385977"/>
            <a:ext cx="0" cy="213147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0920" y="3385977"/>
            <a:ext cx="0" cy="2358823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0920" y="5744800"/>
            <a:ext cx="2913004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0772" y="2227881"/>
            <a:ext cx="0" cy="589706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30772" y="3385977"/>
            <a:ext cx="0" cy="497342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90075" y="3883320"/>
            <a:ext cx="174069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48120" y="4558284"/>
            <a:ext cx="0" cy="177622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48120" y="5304297"/>
            <a:ext cx="0" cy="106573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9586" y="4558284"/>
            <a:ext cx="0" cy="177622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9586" y="5304297"/>
            <a:ext cx="0" cy="106573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21684" y="5744800"/>
            <a:ext cx="46181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7137" y="5744800"/>
            <a:ext cx="31972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48120" y="1716329"/>
            <a:ext cx="1420978" cy="866796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48120" y="1716329"/>
            <a:ext cx="1420978" cy="213147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48120" y="1716329"/>
            <a:ext cx="1420978" cy="21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248120" y="1950790"/>
            <a:ext cx="1420978" cy="59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5"/>
              </a:lnSpc>
              <a:buNone/>
            </a:pPr>
            <a:r>
              <a:rPr lang="en-US" sz="95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admin_id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55808" y="1716329"/>
            <a:ext cx="1349929" cy="568391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5808" y="1716329"/>
            <a:ext cx="1349929" cy="213147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55808" y="1716329"/>
            <a:ext cx="1349929" cy="21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155808" y="1950790"/>
            <a:ext cx="1349929" cy="298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5"/>
              </a:lnSpc>
              <a:buNone/>
            </a:pPr>
            <a:r>
              <a:rPr lang="en-US" sz="95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category_name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761409" y="3599124"/>
            <a:ext cx="1349929" cy="717594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61409" y="3599124"/>
            <a:ext cx="1349929" cy="213147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761409" y="3599124"/>
            <a:ext cx="1349929" cy="21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761409" y="3833585"/>
            <a:ext cx="1349929" cy="447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5"/>
              </a:lnSpc>
              <a:buNone/>
            </a:pPr>
            <a:r>
              <a:rPr lang="en-US" sz="95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report_id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report_type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generated_date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537631" y="3599124"/>
            <a:ext cx="1420978" cy="1015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37631" y="3599124"/>
            <a:ext cx="1420978" cy="213147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537631" y="3599124"/>
            <a:ext cx="1420978" cy="21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3537631" y="3833585"/>
            <a:ext cx="1420978" cy="746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5"/>
              </a:lnSpc>
              <a:buNone/>
            </a:pPr>
            <a:r>
              <a:rPr lang="en-US" sz="95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097" y="3599124"/>
            <a:ext cx="1420978" cy="1015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8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097" y="3599124"/>
            <a:ext cx="1420978" cy="213147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69097" y="3599124"/>
            <a:ext cx="1420978" cy="21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5669097" y="3833585"/>
            <a:ext cx="1420978" cy="746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5"/>
              </a:lnSpc>
              <a:buNone/>
            </a:pPr>
            <a:r>
              <a:rPr lang="en-US" sz="95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copies_available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963924" y="5410871"/>
            <a:ext cx="2557760" cy="717594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8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63924" y="5410871"/>
            <a:ext cx="2557760" cy="213147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963924" y="5410871"/>
            <a:ext cx="2557760" cy="21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Record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3963924" y="5645332"/>
            <a:ext cx="1278880" cy="447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5"/>
              </a:lnSpc>
              <a:buNone/>
            </a:pPr>
            <a:r>
              <a:rPr lang="en-US" sz="95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lending_id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5242804" y="5645332"/>
            <a:ext cx="1278880" cy="447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226857" y="5410871"/>
            <a:ext cx="1349929" cy="866796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8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6857" y="5410871"/>
            <a:ext cx="1349929" cy="213147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226857" y="5410871"/>
            <a:ext cx="1349929" cy="21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226857" y="5645332"/>
            <a:ext cx="1349929" cy="59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5"/>
              </a:lnSpc>
              <a:buNone/>
            </a:pPr>
            <a:r>
              <a:rPr lang="en-US" sz="95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fine_id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days_overdue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50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paid_status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89102" y="2817586"/>
            <a:ext cx="923635" cy="568391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89102" y="2817586"/>
            <a:ext cx="923635" cy="56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974555" y="2817586"/>
            <a:ext cx="923635" cy="568391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974555" y="2817586"/>
            <a:ext cx="923635" cy="56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786302" y="2817586"/>
            <a:ext cx="923635" cy="568391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786302" y="2817586"/>
            <a:ext cx="923635" cy="56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917768" y="2817586"/>
            <a:ext cx="923635" cy="568391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917768" y="2817586"/>
            <a:ext cx="923635" cy="56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Books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368955" y="2817586"/>
            <a:ext cx="923635" cy="568391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368955" y="2817586"/>
            <a:ext cx="923635" cy="56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786302" y="4735906"/>
            <a:ext cx="923635" cy="568391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786302" y="4735906"/>
            <a:ext cx="923635" cy="56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917768" y="4735906"/>
            <a:ext cx="923635" cy="568391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917768" y="4735906"/>
            <a:ext cx="923635" cy="56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983501" y="5460605"/>
            <a:ext cx="923635" cy="568391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983501" y="5460605"/>
            <a:ext cx="923635" cy="568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059936" y="2669307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59936" y="2669307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445389" y="2669307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2445389" y="2669307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257136" y="2669307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257136" y="2669307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388602" y="2669307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388602" y="2669307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424074" y="3401111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424074" y="3401111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235821" y="3401111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235821" y="3401111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367287" y="3401111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367287" y="3401111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667430" y="5653360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667430" y="5653360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8818474" y="2406426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8818474" y="2406426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148825" y="3791880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148825" y="3791880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235821" y="4552103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235821" y="4552103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235821" y="5262591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235821" y="5262591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6367287" y="4552103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367287" y="4552103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6367287" y="5262591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6367287" y="5262591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6615958" y="5653360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615958" y="5653360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7965887" y="5653360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7965887" y="5653360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9875520" y="1097280"/>
            <a:ext cx="192024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875520" y="1097280"/>
            <a:ext cx="1920240" cy="64008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0012680" y="1234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10012680" y="1600200"/>
            <a:ext cx="1664208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box = entity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diamond = relationship with cardinality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Underlined attribute = primary key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 books, students, reports and lending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Record links Student, Book and Admin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Lending Record generates one Fine (1:1)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Diagram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solidFill>
            <a:srgbClr val="DCE9F7"/>
          </a:solidFill>
          <a:ln w="3175">
            <a:solidFill>
              <a:srgbClr val="DCE9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| 3 Marks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56555" y="2290755"/>
            <a:ext cx="0" cy="37308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56555" y="2576779"/>
            <a:ext cx="0" cy="93269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75150" y="2670048"/>
            <a:ext cx="248716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75150" y="2670048"/>
            <a:ext cx="0" cy="124358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62318" y="2670048"/>
            <a:ext cx="0" cy="124358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96942" y="3018252"/>
            <a:ext cx="18653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29630" y="3018252"/>
            <a:ext cx="248717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6821" y="3018252"/>
            <a:ext cx="18653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61058" y="3018252"/>
            <a:ext cx="559613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64254" y="2452421"/>
            <a:ext cx="0" cy="341986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04642" y="2203704"/>
            <a:ext cx="18653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45997" y="2079346"/>
            <a:ext cx="0" cy="124358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5997" y="2701138"/>
            <a:ext cx="0" cy="124358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75150" y="3291840"/>
            <a:ext cx="0" cy="186538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75150" y="3975811"/>
            <a:ext cx="0" cy="77724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45997" y="3664915"/>
            <a:ext cx="0" cy="93269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45997" y="4006901"/>
            <a:ext cx="0" cy="93269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5551" y="4100170"/>
            <a:ext cx="1417686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5551" y="4100170"/>
            <a:ext cx="0" cy="124358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51701" y="4100170"/>
            <a:ext cx="0" cy="124358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85416" y="4100170"/>
            <a:ext cx="0" cy="124358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61058" y="3416198"/>
            <a:ext cx="870509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31566" y="3416198"/>
            <a:ext cx="0" cy="1629095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31566" y="5045293"/>
            <a:ext cx="12435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02075" y="5045293"/>
            <a:ext cx="248717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1058" y="3571646"/>
            <a:ext cx="715061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76118" y="3571646"/>
            <a:ext cx="0" cy="683971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76118" y="4255618"/>
            <a:ext cx="2580437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56555" y="4037990"/>
            <a:ext cx="0" cy="217627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71616" y="3242097"/>
            <a:ext cx="0" cy="547177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29630" y="3789274"/>
            <a:ext cx="341986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3913632"/>
            <a:ext cx="341986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62318" y="3242097"/>
            <a:ext cx="0" cy="80833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62318" y="3571646"/>
            <a:ext cx="0" cy="155448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62318" y="3727094"/>
            <a:ext cx="1305763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86677" y="3727094"/>
            <a:ext cx="0" cy="124358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68082" y="3727094"/>
            <a:ext cx="0" cy="124358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46290" y="3018252"/>
            <a:ext cx="870509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89874" y="3266968"/>
            <a:ext cx="0" cy="1268456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16168" y="4535424"/>
            <a:ext cx="2673706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16168" y="4535424"/>
            <a:ext cx="0" cy="217627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64885" y="5045293"/>
            <a:ext cx="310896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21931" y="5045293"/>
            <a:ext cx="18653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30261" y="5331318"/>
            <a:ext cx="0" cy="167884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30261" y="5747918"/>
            <a:ext cx="0" cy="74615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08469" y="5822533"/>
            <a:ext cx="1243584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08469" y="5822533"/>
            <a:ext cx="0" cy="80833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52053" y="5822533"/>
            <a:ext cx="0" cy="80833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10405" y="1581912"/>
            <a:ext cx="1492301" cy="758586"/>
          </a:xfrm>
          <a:prstGeom prst="rect">
            <a:avLst/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10405" y="1581912"/>
            <a:ext cx="1492301" cy="18653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610405" y="1581912"/>
            <a:ext cx="1492301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4610405" y="1787103"/>
            <a:ext cx="1492301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person_id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553358" y="2794406"/>
            <a:ext cx="1243584" cy="497434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8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53358" y="2794406"/>
            <a:ext cx="1243584" cy="186538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553358" y="2794406"/>
            <a:ext cx="1243584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3553358" y="2999598"/>
            <a:ext cx="124358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978347" y="2794406"/>
            <a:ext cx="1367942" cy="497434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8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78347" y="2794406"/>
            <a:ext cx="1367942" cy="186538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978347" y="2794406"/>
            <a:ext cx="1367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5978347" y="2999598"/>
            <a:ext cx="1367942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join_year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371954" y="1923898"/>
            <a:ext cx="932688" cy="62801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8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1954" y="1923898"/>
            <a:ext cx="932688" cy="186538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371954" y="1923898"/>
            <a:ext cx="932688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2371954" y="2129089"/>
            <a:ext cx="932688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report_id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report_type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generated_date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30936" y="1581912"/>
            <a:ext cx="1430122" cy="497434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8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0936" y="1581912"/>
            <a:ext cx="1430122" cy="186538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30936" y="1581912"/>
            <a:ext cx="143012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630936" y="1787103"/>
            <a:ext cx="1430122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category_name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30936" y="2825496"/>
            <a:ext cx="1430122" cy="889163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8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0936" y="2825496"/>
            <a:ext cx="1430122" cy="186538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30936" y="2825496"/>
            <a:ext cx="143012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630936" y="3030687"/>
            <a:ext cx="1430122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copies_available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82219" y="4224528"/>
            <a:ext cx="652882" cy="366857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82219" y="4224528"/>
            <a:ext cx="652882" cy="186538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382219" y="4224528"/>
            <a:ext cx="65288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382219" y="4429719"/>
            <a:ext cx="652882" cy="13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1066190" y="4224528"/>
            <a:ext cx="901598" cy="366857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66190" y="4224528"/>
            <a:ext cx="901598" cy="186538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66190" y="4224528"/>
            <a:ext cx="901598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Book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1066190" y="4429719"/>
            <a:ext cx="901598" cy="13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lendable = No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2029968" y="4224528"/>
            <a:ext cx="621792" cy="497434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029968" y="4224528"/>
            <a:ext cx="621792" cy="186538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2029968" y="4224528"/>
            <a:ext cx="62179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2029968" y="4429719"/>
            <a:ext cx="621792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issue_no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volume_no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537960" y="3851453"/>
            <a:ext cx="1181405" cy="497434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537960" y="3851453"/>
            <a:ext cx="1181405" cy="186538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6537960" y="3851453"/>
            <a:ext cx="1181405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Postgraduate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6537960" y="4056644"/>
            <a:ext cx="1181405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research_area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borrow_limit = 6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7719365" y="3851453"/>
            <a:ext cx="932688" cy="366857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719365" y="3851453"/>
            <a:ext cx="932688" cy="186538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719365" y="3851453"/>
            <a:ext cx="932688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</a:t>
            </a:r>
            <a:endParaRPr lang="en-US" sz="900" dirty="0"/>
          </a:p>
        </p:txBody>
      </p:sp>
      <p:sp>
        <p:nvSpPr>
          <p:cNvPr id="97" name="Text 95"/>
          <p:cNvSpPr txBox="1"/>
          <p:nvPr/>
        </p:nvSpPr>
        <p:spPr>
          <a:xfrm>
            <a:off x="7719365" y="4056644"/>
            <a:ext cx="932688" cy="13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borrow_limit = 3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050792" y="4753051"/>
            <a:ext cx="2114093" cy="62801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8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050792" y="4753051"/>
            <a:ext cx="2114093" cy="186538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4050792" y="4753051"/>
            <a:ext cx="2114093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Record</a:t>
            </a:r>
            <a:endParaRPr lang="en-US" sz="900" dirty="0"/>
          </a:p>
        </p:txBody>
      </p:sp>
      <p:sp>
        <p:nvSpPr>
          <p:cNvPr id="101" name="Text 99"/>
          <p:cNvSpPr txBox="1"/>
          <p:nvPr/>
        </p:nvSpPr>
        <p:spPr>
          <a:xfrm>
            <a:off x="4050792" y="4958243"/>
            <a:ext cx="1057046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lending_id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</a:t>
            </a:r>
            <a:endParaRPr lang="en-US" sz="850" dirty="0"/>
          </a:p>
        </p:txBody>
      </p:sp>
      <p:sp>
        <p:nvSpPr>
          <p:cNvPr id="102" name="Text 100"/>
          <p:cNvSpPr txBox="1"/>
          <p:nvPr/>
        </p:nvSpPr>
        <p:spPr>
          <a:xfrm>
            <a:off x="5107838" y="4958243"/>
            <a:ext cx="1057046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7408469" y="4753051"/>
            <a:ext cx="1243584" cy="62801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8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408469" y="4753051"/>
            <a:ext cx="1243584" cy="186538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7408469" y="4753051"/>
            <a:ext cx="1243584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900" dirty="0"/>
          </a:p>
        </p:txBody>
      </p:sp>
      <p:sp>
        <p:nvSpPr>
          <p:cNvPr id="106" name="Text 104"/>
          <p:cNvSpPr txBox="1"/>
          <p:nvPr/>
        </p:nvSpPr>
        <p:spPr>
          <a:xfrm>
            <a:off x="7408469" y="4958243"/>
            <a:ext cx="1243584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fine_id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850" dirty="0"/>
          </a:p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paid_status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6911035" y="5903366"/>
            <a:ext cx="994867" cy="366857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911035" y="5903366"/>
            <a:ext cx="994867" cy="186538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6911035" y="5903366"/>
            <a:ext cx="99486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Fine</a:t>
            </a:r>
            <a:endParaRPr lang="en-US" sz="900" dirty="0"/>
          </a:p>
        </p:txBody>
      </p:sp>
      <p:sp>
        <p:nvSpPr>
          <p:cNvPr id="110" name="Text 108"/>
          <p:cNvSpPr txBox="1"/>
          <p:nvPr/>
        </p:nvSpPr>
        <p:spPr>
          <a:xfrm>
            <a:off x="6911035" y="6108558"/>
            <a:ext cx="994867" cy="13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damage_note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8154619" y="5903366"/>
            <a:ext cx="994867" cy="366857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54619" y="5903366"/>
            <a:ext cx="994867" cy="186538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8154619" y="5903366"/>
            <a:ext cx="99486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Fine</a:t>
            </a:r>
            <a:endParaRPr lang="en-US" sz="900" dirty="0"/>
          </a:p>
        </p:txBody>
      </p:sp>
      <p:sp>
        <p:nvSpPr>
          <p:cNvPr id="114" name="Text 112"/>
          <p:cNvSpPr txBox="1"/>
          <p:nvPr/>
        </p:nvSpPr>
        <p:spPr>
          <a:xfrm>
            <a:off x="8154619" y="6108558"/>
            <a:ext cx="994867" cy="13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8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days_overdue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5232197" y="2328062"/>
            <a:ext cx="248717" cy="248717"/>
          </a:xfrm>
          <a:prstGeom prst="ellipse">
            <a:avLst/>
          </a:prstGeom>
          <a:solidFill>
            <a:srgbClr val="F8D7DA"/>
          </a:solidFill>
          <a:ln w="15875">
            <a:solidFill>
              <a:srgbClr val="B03A48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5232197" y="2328062"/>
            <a:ext cx="248717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F1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6537960" y="3322930"/>
            <a:ext cx="248717" cy="248717"/>
          </a:xfrm>
          <a:prstGeom prst="ellipse">
            <a:avLst/>
          </a:prstGeom>
          <a:solidFill>
            <a:srgbClr val="F8D7DA"/>
          </a:solidFill>
          <a:ln w="15875">
            <a:solidFill>
              <a:srgbClr val="B03A48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6537960" y="3322930"/>
            <a:ext cx="248717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F1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221638" y="3758184"/>
            <a:ext cx="248717" cy="248717"/>
          </a:xfrm>
          <a:prstGeom prst="ellipse">
            <a:avLst/>
          </a:prstGeom>
          <a:solidFill>
            <a:srgbClr val="F8D7DA"/>
          </a:solidFill>
          <a:ln w="15875">
            <a:solidFill>
              <a:srgbClr val="B03A48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1221638" y="3758184"/>
            <a:ext cx="248717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F1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7905902" y="5499202"/>
            <a:ext cx="248717" cy="248717"/>
          </a:xfrm>
          <a:prstGeom prst="ellipse">
            <a:avLst/>
          </a:prstGeom>
          <a:solidFill>
            <a:srgbClr val="F8D7DA"/>
          </a:solidFill>
          <a:ln w="15875">
            <a:solidFill>
              <a:srgbClr val="B03A48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7905902" y="5499202"/>
            <a:ext cx="248717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F1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3491179" y="1954987"/>
            <a:ext cx="746150" cy="497434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3491179" y="1954987"/>
            <a:ext cx="74615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2620670" y="2769535"/>
            <a:ext cx="746150" cy="497434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2620670" y="2769535"/>
            <a:ext cx="74615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4983480" y="2769535"/>
            <a:ext cx="746150" cy="497434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4983480" y="2769535"/>
            <a:ext cx="74615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972922" y="2203704"/>
            <a:ext cx="746150" cy="497434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972922" y="2203704"/>
            <a:ext cx="74615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802075" y="3478378"/>
            <a:ext cx="746150" cy="497434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3802075" y="3478378"/>
            <a:ext cx="74615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4983480" y="3540557"/>
            <a:ext cx="746150" cy="497434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4983480" y="3540557"/>
            <a:ext cx="74615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8216798" y="2769535"/>
            <a:ext cx="746150" cy="497434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8216798" y="2769535"/>
            <a:ext cx="74615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3055925" y="4796577"/>
            <a:ext cx="746150" cy="497434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3055925" y="4796577"/>
            <a:ext cx="74615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6475781" y="4796577"/>
            <a:ext cx="746150" cy="497434"/>
          </a:xfrm>
          <a:prstGeom prst="diamond">
            <a:avLst/>
          </a:prstGeom>
          <a:solidFill>
            <a:srgbClr val="FFF2C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6475781" y="4796577"/>
            <a:ext cx="74615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4361688" y="4069080"/>
            <a:ext cx="870509" cy="161666"/>
          </a:xfrm>
          <a:prstGeom prst="roundRect">
            <a:avLst>
              <a:gd name="adj" fmla="val 45249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4361688" y="4069080"/>
            <a:ext cx="870509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reserve_date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3745382" y="2528865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3745382" y="2528865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3279038" y="2112264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3279038" y="211226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1444752" y="2068739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1444752" y="2068739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9" name="Shape 147"/>
          <p:cNvSpPr/>
          <p:nvPr/>
        </p:nvSpPr>
        <p:spPr>
          <a:xfrm>
            <a:off x="1444752" y="2671877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1444752" y="2671877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151" name="Shape 149"/>
          <p:cNvSpPr/>
          <p:nvPr/>
        </p:nvSpPr>
        <p:spPr>
          <a:xfrm>
            <a:off x="3341218" y="2926812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3341218" y="292681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53" name="Shape 151"/>
          <p:cNvSpPr/>
          <p:nvPr/>
        </p:nvSpPr>
        <p:spPr>
          <a:xfrm>
            <a:off x="2190902" y="2926812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2190902" y="292681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155" name="Shape 153"/>
          <p:cNvSpPr/>
          <p:nvPr/>
        </p:nvSpPr>
        <p:spPr>
          <a:xfrm>
            <a:off x="4771339" y="2926812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4771339" y="292681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57" name="Shape 155"/>
          <p:cNvSpPr/>
          <p:nvPr/>
        </p:nvSpPr>
        <p:spPr>
          <a:xfrm>
            <a:off x="5735117" y="2926812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5735117" y="292681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159" name="Shape 157"/>
          <p:cNvSpPr/>
          <p:nvPr/>
        </p:nvSpPr>
        <p:spPr>
          <a:xfrm>
            <a:off x="4180637" y="3293669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4180637" y="3293669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1" name="Shape 159"/>
          <p:cNvSpPr/>
          <p:nvPr/>
        </p:nvSpPr>
        <p:spPr>
          <a:xfrm>
            <a:off x="4149547" y="4537253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4149547" y="4537253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163" name="Shape 161"/>
          <p:cNvSpPr/>
          <p:nvPr/>
        </p:nvSpPr>
        <p:spPr>
          <a:xfrm>
            <a:off x="2097634" y="3324758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2097634" y="3324758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5" name="Shape 163"/>
          <p:cNvSpPr/>
          <p:nvPr/>
        </p:nvSpPr>
        <p:spPr>
          <a:xfrm>
            <a:off x="3838651" y="4953853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3838651" y="4953853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167" name="Shape 165"/>
          <p:cNvSpPr/>
          <p:nvPr/>
        </p:nvSpPr>
        <p:spPr>
          <a:xfrm>
            <a:off x="2066544" y="3480206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2066544" y="3480206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169" name="Shape 167"/>
          <p:cNvSpPr/>
          <p:nvPr/>
        </p:nvSpPr>
        <p:spPr>
          <a:xfrm>
            <a:off x="6046013" y="3418027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6046013" y="3418027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50" dirty="0"/>
          </a:p>
        </p:txBody>
      </p:sp>
      <p:sp>
        <p:nvSpPr>
          <p:cNvPr id="171" name="Shape 169"/>
          <p:cNvSpPr/>
          <p:nvPr/>
        </p:nvSpPr>
        <p:spPr>
          <a:xfrm>
            <a:off x="7413955" y="2926812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7413955" y="292681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73" name="Shape 171"/>
          <p:cNvSpPr/>
          <p:nvPr/>
        </p:nvSpPr>
        <p:spPr>
          <a:xfrm>
            <a:off x="5890565" y="4549689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5890565" y="4549689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175" name="Shape 173"/>
          <p:cNvSpPr/>
          <p:nvPr/>
        </p:nvSpPr>
        <p:spPr>
          <a:xfrm>
            <a:off x="6201461" y="4953853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6201461" y="4953853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77" name="Shape 175"/>
          <p:cNvSpPr/>
          <p:nvPr/>
        </p:nvSpPr>
        <p:spPr>
          <a:xfrm>
            <a:off x="7196328" y="4953853"/>
            <a:ext cx="23774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7196328" y="4953853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79" name="Shape 177"/>
          <p:cNvSpPr/>
          <p:nvPr/>
        </p:nvSpPr>
        <p:spPr>
          <a:xfrm>
            <a:off x="9418320" y="1097280"/>
            <a:ext cx="237744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418320" y="1097280"/>
            <a:ext cx="2377440" cy="64008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9555480" y="1234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300" dirty="0"/>
          </a:p>
        </p:txBody>
      </p:sp>
      <p:sp>
        <p:nvSpPr>
          <p:cNvPr id="182" name="Text 180"/>
          <p:cNvSpPr txBox="1"/>
          <p:nvPr/>
        </p:nvSpPr>
        <p:spPr>
          <a:xfrm>
            <a:off x="9555480" y="1600200"/>
            <a:ext cx="212140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specialization (subclasses)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 line = superclass to specialization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Underlined = primary key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 Reserves carries reserve_date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9418320" y="4069080"/>
            <a:ext cx="2377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418320" y="4069080"/>
            <a:ext cx="2377440" cy="64008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955548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Specializations</a:t>
            </a:r>
            <a:endParaRPr lang="en-US" sz="1300" dirty="0"/>
          </a:p>
        </p:txBody>
      </p:sp>
      <p:sp>
        <p:nvSpPr>
          <p:cNvPr id="186" name="Text 184"/>
          <p:cNvSpPr txBox="1"/>
          <p:nvPr/>
        </p:nvSpPr>
        <p:spPr>
          <a:xfrm>
            <a:off x="9555480" y="4572000"/>
            <a:ext cx="21214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Person: Admin, Student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Postgraduate, Undergraduate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Book: Textbook, Reference Book, Journal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Fine: Damage Fine, Overdue Fine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/ EER Design Explained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solidFill>
            <a:srgbClr val="DCE9F7"/>
          </a:solidFill>
          <a:ln w="3175">
            <a:solidFill>
              <a:srgbClr val="DCE9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| 3 Marks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64008" cy="2011680"/>
          </a:xfrm>
          <a:prstGeom prst="rect">
            <a:avLst/>
          </a:prstGeom>
          <a:solidFill>
            <a:srgbClr val="1F4E8C"/>
          </a:solidFill>
          <a:ln w="3175">
            <a:solidFill>
              <a:srgbClr val="1F4E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2344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 the library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645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issues / receives lending records, manages books and students, and produces reports (all 1:N).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70248" y="114300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0248" y="1143000"/>
            <a:ext cx="64008" cy="2011680"/>
          </a:xfrm>
          <a:prstGeom prst="rect">
            <a:avLst/>
          </a:prstGeom>
          <a:solidFill>
            <a:srgbClr val="1F4E8C"/>
          </a:solidFill>
          <a:ln w="3175">
            <a:solidFill>
              <a:srgbClr val="1F4E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1416" y="12344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Record is the hub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1645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makes (1:N) and a Book is involved in (1:N) many lending records; each can generate one Fine (1:1).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14300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3296" y="1143000"/>
            <a:ext cx="64008" cy="201168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84464" y="12344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superclass (EER)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1645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person_id, name, email, phone are shared; specialized into Admin (username, password) and Student (department, join_year).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37560"/>
            <a:ext cx="64008" cy="2011680"/>
          </a:xfrm>
          <a:prstGeom prst="rect">
            <a:avLst/>
          </a:prstGeom>
          <a:solidFill>
            <a:srgbClr val="2E8B62"/>
          </a:solidFill>
          <a:ln w="3175">
            <a:solidFill>
              <a:srgbClr val="2E8B6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429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subclasses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84048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Postgraduate: borrow_limit = 6, research_area. Undergraduate: borrow_limit = 3.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70248" y="333756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0248" y="3337560"/>
            <a:ext cx="64008" cy="2011680"/>
          </a:xfrm>
          <a:prstGeom prst="rect">
            <a:avLst/>
          </a:prstGeom>
          <a:solidFill>
            <a:srgbClr val="2E8B62"/>
          </a:solidFill>
          <a:ln w="3175">
            <a:solidFill>
              <a:srgbClr val="2E8B6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71416" y="3429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Category and Reserves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71416" y="384048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classifies Books (1:N). Textbook, Reference Book (lendable = No) and Journal specialize Book. Students reserve books (M:N, reserve_date).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83296" y="333756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3337560"/>
            <a:ext cx="64008" cy="2011680"/>
          </a:xfrm>
          <a:prstGeom prst="rect">
            <a:avLst/>
          </a:prstGeom>
          <a:solidFill>
            <a:srgbClr val="D9822B"/>
          </a:solidFill>
          <a:ln w="3175">
            <a:solidFill>
              <a:srgbClr val="D982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4464" y="3429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types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4464" y="384048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(fine_id, amount, paid_status) specializes into Damage Fine (damage_note) and Overdue Fine (days_overdue).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5577840"/>
            <a:ext cx="11274552" cy="731520"/>
          </a:xfrm>
          <a:prstGeom prst="rect">
            <a:avLst/>
          </a:prstGeom>
          <a:solidFill>
            <a:srgbClr val="E8F0FA"/>
          </a:solidFill>
          <a:ln w="3175">
            <a:solidFill>
              <a:srgbClr val="E8F0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577840"/>
            <a:ext cx="64008" cy="731520"/>
          </a:xfrm>
          <a:prstGeom prst="rect">
            <a:avLst/>
          </a:prstGeom>
          <a:solidFill>
            <a:srgbClr val="0B1F3A"/>
          </a:solidFill>
          <a:ln w="3175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to EER: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 diagram has separate name/email/phone attributes in Student and name in Admin; the EER lifts shared attributes into Person and adds Reserves and the specializations.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to Relational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solidFill>
            <a:srgbClr val="DCE9F7"/>
          </a:solidFill>
          <a:ln w="3175">
            <a:solidFill>
              <a:srgbClr val="DCE9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| 3 Marks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7455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  <a:gridCol w="578815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/ EER 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from our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 (table)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entity  →  CATEGORY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category_name  →  column in 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category_id (underlined)  →  PK of 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 relationship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on the N side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Classifies (Category 1:N Book)  →  BOOK.category_id (FK)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 relationship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(Lending Record 1:1 Fine)  →  FINE.lending_id (FK)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M:N relationship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relation, composite PK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Reserves  →  RESERVES (student_id, book_id, reserve_date)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Subclass table, PK = FK to superclass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  →  STUDENT.student_id, ADMIN.admin_id (PK, FK)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Multi-valued attribute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relation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 →  PERSON_PHONE (person_id, phone_number)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349240"/>
            <a:ext cx="11274552" cy="822960"/>
          </a:xfrm>
          <a:prstGeom prst="rect">
            <a:avLst/>
          </a:prstGeom>
          <a:solidFill>
            <a:srgbClr val="E8F0FA"/>
          </a:solidFill>
          <a:ln w="3175">
            <a:solidFill>
              <a:srgbClr val="E8F0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5349240"/>
            <a:ext cx="64008" cy="822960"/>
          </a:xfrm>
          <a:prstGeom prst="rect">
            <a:avLst/>
          </a:prstGeom>
          <a:solidFill>
            <a:srgbClr val="0B1F3A"/>
          </a:solidFill>
          <a:ln w="3175">
            <a:solidFill>
              <a:srgbClr val="0B1F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349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mapped: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/ Receives → LENDING_RECORD.admin_id; Makes → student_id; Involves → book_id; Produces → REPORT.admin_id (all FKs on the N side).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solidFill>
            <a:srgbClr val="DCE9F7"/>
          </a:solidFill>
          <a:ln w="3175">
            <a:solidFill>
              <a:srgbClr val="DCE9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| 3 Marks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532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86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person_id (PK), name,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PERSON_PHONE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person_id (PK, FK), phone_number (PK)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 (PK, FK), department, join_year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UNDERGRADUATE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 (PK, FK), borrow_limit =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POSTGRADUATE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 (PK, FK), borrow_limit = 6, research_area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admin_id (PK, FK), username,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report_id (PK), report_type, generated_date, admin_id (FK)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LENDING_RECORD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lending_id (PK), issue_date, due_date, return_date, status, student_id (FK), book_id (FK), admin_id (FK)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 (PK, FK), book_id (PK, FK), reserve_date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097280"/>
          <a:ext cx="5532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86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 (PK), title, isbn, author, copies_available, category_id (FK)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category_id (PK), category_name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 (PK, FK), edition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REFERENCE_BOOK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 (PK, FK), lendable = 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 (PK, FK), issue_no, volume_no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fine_id (PK), amount, paid_status, lending_id (FK)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DAMAGE_FINE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fine_id (PK, FK), damage_note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OVERDUE_FINE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fine_id (PK, FK), days_overdue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486400"/>
            <a:ext cx="11274552" cy="777240"/>
          </a:xfrm>
          <a:prstGeom prst="rect">
            <a:avLst/>
          </a:prstGeom>
          <a:solidFill>
            <a:srgbClr val="E8F0FA"/>
          </a:solidFill>
          <a:ln w="3175">
            <a:solidFill>
              <a:srgbClr val="E8F0F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5486400"/>
            <a:ext cx="64008" cy="777240"/>
          </a:xfrm>
          <a:prstGeom prst="rect">
            <a:avLst/>
          </a:prstGeom>
          <a:solidFill>
            <a:srgbClr val="0B1F3A"/>
          </a:solidFill>
          <a:ln w="3175">
            <a:solidFill>
              <a:srgbClr val="0B1F3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54864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primary key, FK = foreign key; subclass tables use PK = FK to their superclass. PERSON_PHONE comes from the 1NF step (multi-valued phone).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solidFill>
            <a:srgbClr val="DCE9F7"/>
          </a:solidFill>
          <a:ln w="3175">
            <a:solidFill>
              <a:srgbClr val="DCE9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 | 2 Marks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64008" cy="1737360"/>
          </a:xfrm>
          <a:prstGeom prst="rect">
            <a:avLst/>
          </a:prstGeom>
          <a:solidFill>
            <a:srgbClr val="D9822B"/>
          </a:solidFill>
          <a:ln w="3175">
            <a:solidFill>
              <a:srgbClr val="D982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234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6002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fact (e.g. category_name) is stored repeatedly.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143000"/>
            <a:ext cx="64008" cy="173736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3008" y="1234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anomaly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16002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fact cannot be stored without unrelated data.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143000"/>
            <a:ext cx="64008" cy="1737360"/>
          </a:xfrm>
          <a:prstGeom prst="rect">
            <a:avLst/>
          </a:prstGeom>
          <a:solidFill>
            <a:srgbClr val="2E8B62"/>
          </a:solidFill>
          <a:ln w="3175">
            <a:solidFill>
              <a:srgbClr val="2E8B6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7648" y="1234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anomaly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16002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one fact needs many rows updated; some may be missed.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0" y="1143000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1143000"/>
            <a:ext cx="64008" cy="1737360"/>
          </a:xfrm>
          <a:prstGeom prst="rect">
            <a:avLst/>
          </a:prstGeom>
          <a:solidFill>
            <a:srgbClr val="1F4E8C"/>
          </a:solidFill>
          <a:ln w="3175">
            <a:solidFill>
              <a:srgbClr val="1F4E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62288" y="1234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anomaly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62288" y="16002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row can lose unrelated facts.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11274552" cy="640080"/>
          </a:xfrm>
          <a:prstGeom prst="rect">
            <a:avLst/>
          </a:prstGeom>
          <a:solidFill>
            <a:srgbClr val="E8F0FA"/>
          </a:solidFill>
          <a:ln w="3175">
            <a:solidFill>
              <a:srgbClr val="E8F0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08960"/>
            <a:ext cx="64008" cy="640080"/>
          </a:xfrm>
          <a:prstGeom prst="rect">
            <a:avLst/>
          </a:prstGeom>
          <a:solidFill>
            <a:srgbClr val="D9822B"/>
          </a:solidFill>
          <a:ln w="3175">
            <a:solidFill>
              <a:srgbClr val="D982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108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in our UNF dump: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redundancy, multi-valued fields (phones) and transitive chains.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2697480" cy="685800"/>
          </a:xfrm>
          <a:prstGeom prst="homePlate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4069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846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dump table with repeating groups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291840" y="4069080"/>
            <a:ext cx="2697480" cy="685800"/>
          </a:xfrm>
          <a:prstGeom prst="homePlate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91840" y="4069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3291840" y="4846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values; multi-valued phones moved out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26480" y="4069080"/>
            <a:ext cx="2697480" cy="685800"/>
          </a:xfrm>
          <a:prstGeom prst="homePlate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26480" y="4069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6126480" y="4846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dependencies removed; entities separated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961120" y="4069080"/>
            <a:ext cx="2697480" cy="685800"/>
          </a:xfrm>
          <a:prstGeom prst="homePlate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61120" y="4069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0" y="4846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dependencies removed; subclasses mapped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Normal Form (1NF)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solidFill>
            <a:srgbClr val="DCE9F7"/>
          </a:solidFill>
          <a:ln w="3175">
            <a:solidFill>
              <a:srgbClr val="DCE9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 | 2 Marks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4114800" cy="292608"/>
          </a:xfrm>
          <a:prstGeom prst="rect">
            <a:avLst/>
          </a:prstGeom>
          <a:solidFill>
            <a:srgbClr val="64748B"/>
          </a:solidFill>
          <a:ln w="3175">
            <a:solidFill>
              <a:srgbClr val="64748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UNNORMALIZED_LIBRARY_DUMP (UNF)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63040"/>
            <a:ext cx="1371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person_id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(multi-valued!)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admin_username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admin_password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student_dept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student_join_year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pg_research_area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ug_borrow_limit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463040"/>
            <a:ext cx="1371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copies_available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category_name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textbook_edition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ref_lendable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journal_issue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journal_vol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reserve_date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lending_id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463040"/>
            <a:ext cx="1371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fine_id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fine_amount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paid_status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dmg_note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overdue_days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report_id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report_type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report_date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2560320"/>
            <a:ext cx="548640" cy="457200"/>
          </a:xfrm>
          <a:prstGeom prst="rightArrow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1097280"/>
            <a:ext cx="3017520" cy="2475484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1097280"/>
            <a:ext cx="3017520" cy="237744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10972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LIBRARY_1NF_FLAT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68112" y="1380744"/>
            <a:ext cx="2907792" cy="214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[PK] dump_id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person_id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admin_username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student_dept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category_name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lending_id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fine_amount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03920" y="1737360"/>
            <a:ext cx="457200" cy="411480"/>
          </a:xfrm>
          <a:prstGeom prst="rightArrow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554480"/>
            <a:ext cx="2651760" cy="659384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1554480"/>
            <a:ext cx="2651760" cy="237744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52560" y="15544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PERSON_PHONE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25712" y="1837944"/>
            <a:ext cx="254203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person_id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[PK] phone_number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phone number now sits in its own row, linked to the person by person_id.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93776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937760"/>
            <a:ext cx="64008" cy="137160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50292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5349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(multi-valued) split into single phone_number values.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70248" y="493776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0248" y="4937760"/>
            <a:ext cx="64008" cy="1371600"/>
          </a:xfrm>
          <a:prstGeom prst="rect">
            <a:avLst/>
          </a:prstGeom>
          <a:solidFill>
            <a:srgbClr val="2E8B62"/>
          </a:solidFill>
          <a:ln w="3175">
            <a:solidFill>
              <a:srgbClr val="2E8B6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71416" y="50292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groups removed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71416" y="5349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attribute moved to PERSON_PHONE (PK, FK person_id + PK phone_number).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83296" y="493776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83296" y="4937760"/>
            <a:ext cx="64008" cy="1371600"/>
          </a:xfrm>
          <a:prstGeom prst="rect">
            <a:avLst/>
          </a:prstGeom>
          <a:solidFill>
            <a:srgbClr val="D9822B"/>
          </a:solidFill>
          <a:ln w="3175">
            <a:solidFill>
              <a:srgbClr val="D982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84464" y="50292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relations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284464" y="5349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LIBRARY_1NF_FLAT with PK dump_id, and PERSON_PHONE.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Normal Form (2NF)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solidFill>
            <a:srgbClr val="DCE9F7"/>
          </a:solidFill>
          <a:ln w="3175">
            <a:solidFill>
              <a:srgbClr val="DCE9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 | 2 Marks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011680" cy="799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2011680" cy="237744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80744"/>
            <a:ext cx="1901952" cy="470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[PK] person_id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78608" y="1097280"/>
            <a:ext cx="2011680" cy="1113409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78608" y="1097280"/>
            <a:ext cx="2011680" cy="237744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78608" y="1097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1380744"/>
            <a:ext cx="1901952" cy="784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student_id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join_year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pg_research_area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borrow_limit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0016" y="1097280"/>
            <a:ext cx="2011680" cy="799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0016" y="1097280"/>
            <a:ext cx="2011680" cy="237744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0016" y="1097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1380744"/>
            <a:ext cx="1901952" cy="470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admin_id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21424" y="1097280"/>
            <a:ext cx="2011680" cy="956564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21424" y="1097280"/>
            <a:ext cx="2011680" cy="237744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21424" y="1097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894576" y="1380744"/>
            <a:ext cx="1901952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[PK] report_id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report_type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generated_date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[FK] admin_id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2011680" cy="1427099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651760"/>
            <a:ext cx="2011680" cy="237744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26517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30352" y="2935224"/>
            <a:ext cx="1901952" cy="1097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[PK] book_id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copies_available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category_name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78608" y="2651760"/>
            <a:ext cx="2011680" cy="799719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78608" y="2651760"/>
            <a:ext cx="2011680" cy="237744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78608" y="26517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651760" y="2935224"/>
            <a:ext cx="1901952" cy="470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student_id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book_id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reserve_date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0016" y="2651760"/>
            <a:ext cx="2011680" cy="1583944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0016" y="2651760"/>
            <a:ext cx="2011680" cy="237744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00016" y="26517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LENDING_RECORD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773168" y="2935224"/>
            <a:ext cx="1901952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[PK] lending_id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[FK] student_id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[FK] book_id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[FK] admin_id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21424" y="2651760"/>
            <a:ext cx="2011680" cy="1270254"/>
          </a:xfrm>
          <a:prstGeom prst="rect">
            <a:avLst/>
          </a:prstGeom>
          <a:solidFill>
            <a:srgbClr val="FFFFFF"/>
          </a:solidFill>
          <a:ln w="15875">
            <a:solidFill>
              <a:srgbClr val="D982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21424" y="2651760"/>
            <a:ext cx="2011680" cy="237744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21424" y="26517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894576" y="2935224"/>
            <a:ext cx="1901952" cy="941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[PK] fine_id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paid_status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damage_note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days_overdue</a:t>
            </a:r>
            <a:endParaRPr lang="en-US" sz="950" dirty="0"/>
          </a:p>
          <a:p>
            <a:pPr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[FK] lending_id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52560" y="1097280"/>
            <a:ext cx="2679192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52560" y="1097280"/>
            <a:ext cx="2679192" cy="64008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89720" y="12344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applied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189720" y="1600200"/>
            <a:ext cx="2423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partial dependencies, especially in the RESERVES M:N mapping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has composite PK (student_id, book_id)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are separated into their own relations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PERSON_PHONE from 1NF carries forward unchanged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846320"/>
            <a:ext cx="36576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846320"/>
            <a:ext cx="64008" cy="1508760"/>
          </a:xfrm>
          <a:prstGeom prst="rect">
            <a:avLst/>
          </a:prstGeom>
          <a:solidFill>
            <a:srgbClr val="D9822B"/>
          </a:solidFill>
          <a:ln w="3175">
            <a:solidFill>
              <a:srgbClr val="D9822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8368" y="49377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dependency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523036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composite key, an attribute must depend on the whole key. reserve_date belongs to the pair; student and book facts do not.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270248" y="4846320"/>
            <a:ext cx="36576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70248" y="4846320"/>
            <a:ext cx="64008" cy="150876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471416" y="49377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4471416" y="523036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are placed in the relation of the entity they describe: PERSON, STUDENT, ADMIN, BOOK, LENDING_RECORD, FINE, REPORT.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083296" y="4846320"/>
            <a:ext cx="36576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83296" y="4846320"/>
            <a:ext cx="64008" cy="1508760"/>
          </a:xfrm>
          <a:prstGeom prst="rect">
            <a:avLst/>
          </a:prstGeom>
          <a:solidFill>
            <a:srgbClr val="2E8B62"/>
          </a:solidFill>
          <a:ln w="3175">
            <a:solidFill>
              <a:srgbClr val="2E8B6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284464" y="49377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for 3NF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8284464" y="523036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still holds category_name; STUDENT and FINE still hold subclass attributes (shown in 3NF).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 (3NF)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solidFill>
            <a:srgbClr val="DCE9F7"/>
          </a:solidFill>
          <a:ln w="3175">
            <a:solidFill>
              <a:srgbClr val="DCE9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 | 2 Marks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relation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0241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result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2801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( book_id, title, isbn, author, copies_available, category_id, category_name 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426464"/>
            <a:ext cx="502920" cy="365760"/>
          </a:xfrm>
          <a:prstGeom prst="rightArrow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0" y="1280160"/>
            <a:ext cx="6336792" cy="658368"/>
          </a:xfrm>
          <a:prstGeom prst="rect">
            <a:avLst/>
          </a:prstGeom>
          <a:solidFill>
            <a:srgbClr val="E9F5EE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0" y="128016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( [PK] book_id, title, isbn, author, copies_available, [FK] category_id 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( [PK] category_id, category_name 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 student_id, department, join_year, pg_research_area, borrow_limit 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276856"/>
            <a:ext cx="502920" cy="365760"/>
          </a:xfrm>
          <a:prstGeom prst="rightArrow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2011680"/>
            <a:ext cx="6336792" cy="896112"/>
          </a:xfrm>
          <a:prstGeom prst="rect">
            <a:avLst/>
          </a:prstGeom>
          <a:solidFill>
            <a:srgbClr val="E9F5EE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0" y="2011680"/>
            <a:ext cx="6126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 [PK, FK] student_id, department, join_year 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( [PK, FK] student_id, borrow_limit = 3 )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POSTGRADUATE ( [PK, FK] student_id, borrow_limit = 6, research_area 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980944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980944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( fine_id, amount, paid_status, damage_note, days_overdue, lending_id 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502920" cy="365760"/>
          </a:xfrm>
          <a:prstGeom prst="rightArrow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94960" y="2980944"/>
            <a:ext cx="6336792" cy="896112"/>
          </a:xfrm>
          <a:prstGeom prst="rect">
            <a:avLst/>
          </a:prstGeom>
          <a:solidFill>
            <a:srgbClr val="E9F5EE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980944"/>
            <a:ext cx="6126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( [PK] fine_id, amount, paid_status, [FK] lending_id 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DAMAGE_FINE ( [PK, FK] fine_id, damage_note 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OVERDUE_FINE ( [PK, FK] fine_id, days_overdue 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950208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950208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specialization (EER): Textbook, Reference Book, Journal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4215384"/>
            <a:ext cx="502920" cy="365760"/>
          </a:xfrm>
          <a:prstGeom prst="rightArrow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0" y="3950208"/>
            <a:ext cx="6336792" cy="896112"/>
          </a:xfrm>
          <a:prstGeom prst="rect">
            <a:avLst/>
          </a:prstGeom>
          <a:solidFill>
            <a:srgbClr val="E9F5EE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0" y="3950208"/>
            <a:ext cx="6126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( [PK, FK] book_id, edition 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REFERENCE_BOOK ( [PK, FK] book_id, lendable = No 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( [PK, FK] book_id, issue_no, volume_no 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5074920"/>
            <a:ext cx="560527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074920"/>
            <a:ext cx="64008" cy="1280160"/>
          </a:xfrm>
          <a:prstGeom prst="rect">
            <a:avLst/>
          </a:prstGeom>
          <a:solidFill>
            <a:srgbClr val="D9822B"/>
          </a:solidFill>
          <a:ln w="3175">
            <a:solidFill>
              <a:srgbClr val="D982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5166360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dependency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545896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 → category_id → category_name: category_name depends on a non-key attribute, so CATEGORY is separated from BOOK.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26480" y="5074920"/>
            <a:ext cx="560527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5074920"/>
            <a:ext cx="64008" cy="1280160"/>
          </a:xfrm>
          <a:prstGeom prst="rect">
            <a:avLst/>
          </a:prstGeom>
          <a:solidFill>
            <a:srgbClr val="2E8B62"/>
          </a:solidFill>
          <a:ln w="3175">
            <a:solidFill>
              <a:srgbClr val="2E8B6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27648" y="5166360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schema satisfies 3NF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327648" y="545896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non-key attribute depends on the key; subclass attributes live in subclass tables keyed by the superclass key.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Normalized Schema (3NF)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solidFill>
            <a:srgbClr val="DCE9F7"/>
          </a:solidFill>
          <a:ln w="3175">
            <a:solidFill>
              <a:srgbClr val="DCE9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320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 | 2 Marks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783080" cy="774954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1783080" cy="237744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5156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335024"/>
            <a:ext cx="167335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[PK] person_id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55494" y="1051560"/>
            <a:ext cx="1783080" cy="626364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5494" y="1051560"/>
            <a:ext cx="1783080" cy="237744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55494" y="105156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PERSON_PHONE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428646" y="1335024"/>
            <a:ext cx="167335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person_id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[PK] phone_number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3789" y="1051560"/>
            <a:ext cx="1783080" cy="774954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3789" y="1051560"/>
            <a:ext cx="1783080" cy="237744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53789" y="105156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26941" y="1335024"/>
            <a:ext cx="167335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student_id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join_year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52083" y="1051560"/>
            <a:ext cx="1783080" cy="774954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52083" y="1051560"/>
            <a:ext cx="1783080" cy="237744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52083" y="105156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25235" y="1335024"/>
            <a:ext cx="167335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admin_id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50378" y="1051560"/>
            <a:ext cx="1783080" cy="626364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50378" y="1051560"/>
            <a:ext cx="1783080" cy="237744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50378" y="105156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123530" y="1335024"/>
            <a:ext cx="167335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student_id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borrow_limit = 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948672" y="1051560"/>
            <a:ext cx="1783080" cy="774954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48672" y="1051560"/>
            <a:ext cx="1783080" cy="237744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48672" y="105156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POSTGRADUATE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021824" y="1335024"/>
            <a:ext cx="167335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student_id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borrow_limit = 6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research_area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1936242"/>
            <a:ext cx="1783080" cy="1220724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1936242"/>
            <a:ext cx="1783080" cy="237744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193624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30352" y="2219706"/>
            <a:ext cx="167335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[PK] book_id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copies_available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[FK] category_id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355494" y="1936242"/>
            <a:ext cx="1783080" cy="626364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55494" y="1936242"/>
            <a:ext cx="1783080" cy="237744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355494" y="193624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428646" y="2219706"/>
            <a:ext cx="167335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[PK] category_id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category_name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53789" y="1936242"/>
            <a:ext cx="1783080" cy="626364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53789" y="1936242"/>
            <a:ext cx="1783080" cy="237744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53789" y="193624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326941" y="2219706"/>
            <a:ext cx="167335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book_id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52083" y="1936242"/>
            <a:ext cx="1783080" cy="626364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52083" y="1936242"/>
            <a:ext cx="1783080" cy="237744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52083" y="193624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REFERENCE_BOOK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225235" y="2219706"/>
            <a:ext cx="167335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book_id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lendable = No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050378" y="1936242"/>
            <a:ext cx="1783080" cy="774954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50378" y="1936242"/>
            <a:ext cx="1783080" cy="237744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050378" y="193624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123530" y="2219706"/>
            <a:ext cx="167335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book_id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issue_no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volume_no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948672" y="1936242"/>
            <a:ext cx="1783080" cy="774954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948672" y="1936242"/>
            <a:ext cx="1783080" cy="237744"/>
          </a:xfrm>
          <a:prstGeom prst="rect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948672" y="193624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0021824" y="2219706"/>
            <a:ext cx="167335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student_id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book_id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reserve_date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3266694"/>
            <a:ext cx="1783080" cy="1517904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3266694"/>
            <a:ext cx="1783080" cy="237744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7200" y="326669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LENDING_RECORD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530352" y="3550158"/>
            <a:ext cx="1673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[PK] lending_id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[FK] student_id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[FK] book_id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[FK] admin_id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355494" y="3266694"/>
            <a:ext cx="1783080" cy="923544"/>
          </a:xfrm>
          <a:prstGeom prst="rect">
            <a:avLst/>
          </a:prstGeom>
          <a:solidFill>
            <a:srgbClr val="FFFFFF"/>
          </a:solidFill>
          <a:ln w="15875">
            <a:solidFill>
              <a:srgbClr val="D9822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55494" y="3266694"/>
            <a:ext cx="1783080" cy="237744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355494" y="326669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2428646" y="3550158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[PK] fine_id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paid_status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[FK] lending_id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253789" y="3266694"/>
            <a:ext cx="1783080" cy="626364"/>
          </a:xfrm>
          <a:prstGeom prst="rect">
            <a:avLst/>
          </a:prstGeom>
          <a:solidFill>
            <a:srgbClr val="FFFFFF"/>
          </a:solidFill>
          <a:ln w="15875">
            <a:solidFill>
              <a:srgbClr val="D9822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53789" y="3266694"/>
            <a:ext cx="1783080" cy="237744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253789" y="326669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DAMAGE_FINE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4326941" y="3550158"/>
            <a:ext cx="167335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fine_id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damage_note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152083" y="3266694"/>
            <a:ext cx="1783080" cy="626364"/>
          </a:xfrm>
          <a:prstGeom prst="rect">
            <a:avLst/>
          </a:prstGeom>
          <a:solidFill>
            <a:srgbClr val="FFFFFF"/>
          </a:solidFill>
          <a:ln w="15875">
            <a:solidFill>
              <a:srgbClr val="D9822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52083" y="3266694"/>
            <a:ext cx="1783080" cy="237744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152083" y="326669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OVERDUE_FINE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6225235" y="3550158"/>
            <a:ext cx="167335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[PK, FK] fine_id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days_overdue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050378" y="3266694"/>
            <a:ext cx="1783080" cy="923544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C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50378" y="3266694"/>
            <a:ext cx="1783080" cy="237744"/>
          </a:xfrm>
          <a:prstGeom prst="rect">
            <a:avLst/>
          </a:prstGeom>
          <a:solidFill>
            <a:srgbClr val="2F80C0"/>
          </a:solidFill>
          <a:ln w="12700">
            <a:solidFill>
              <a:srgbClr val="2F80C0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050378" y="326669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8123530" y="3550158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[PK] report_id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report_type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generated_date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[FK] admin_id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10149840" y="3312414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8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Blue: core tables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Green: subclass / reservation tables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Orange: fine tables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[PK] / [FK] marked in each table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" y="4983480"/>
            <a:ext cx="5577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57200" y="4983480"/>
            <a:ext cx="64008" cy="1371600"/>
          </a:xfrm>
          <a:prstGeom prst="rect">
            <a:avLst/>
          </a:prstGeom>
          <a:solidFill>
            <a:srgbClr val="1F4E8C"/>
          </a:solidFill>
          <a:ln w="3175">
            <a:solidFill>
              <a:srgbClr val="1F4E8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58368" y="50749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(FK)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658368" y="5394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1:N BOOK  |  STUDENT, BOOK, ADMIN 1:N LENDING_RECORD  |  ADMIN 1:N REPORT  |  LENDING_RECORD 1:1 FINE  |  STUDENT M:N BOOK via RESERVES  |  subclass PK = FK to superclass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153912" y="4983480"/>
            <a:ext cx="5577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153912" y="4983480"/>
            <a:ext cx="64008" cy="1371600"/>
          </a:xfrm>
          <a:prstGeom prst="rect">
            <a:avLst/>
          </a:prstGeom>
          <a:solidFill>
            <a:srgbClr val="2E8B62"/>
          </a:solidFill>
          <a:ln w="3175">
            <a:solidFill>
              <a:srgbClr val="2E8B62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355080" y="50749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normalization helps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6355080" y="5422392"/>
            <a:ext cx="5230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redundancy: each fact stored once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Integrity: keys and FKs prevent inconsistent data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insert, update and delete anomalies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937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43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4937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09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709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analyzed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76856"/>
            <a:ext cx="4937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2768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2768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ER/EER model constructed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43784"/>
            <a:ext cx="4937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8437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8437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derived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10712"/>
            <a:ext cx="4937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4107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4107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normalized from 1NF → 2NF → 3NF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4937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977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977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database design established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143000"/>
          <a:ext cx="59710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22960"/>
                <a:gridCol w="18562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Identification &amp; Requirement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2-4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ER/EER Diagram Construction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5-8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Diagram to Relational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9-10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 (1NF, 2NF, 3NF)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11-15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5760720" y="3977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 Marks (30% completion)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Phase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532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64008" cy="3291840"/>
          </a:xfrm>
          <a:prstGeom prst="rect">
            <a:avLst/>
          </a:prstGeom>
          <a:solidFill>
            <a:srgbClr val="2F80C0"/>
          </a:solidFill>
          <a:ln w="3175">
            <a:solidFill>
              <a:srgbClr val="2F80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2344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conclusion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81912"/>
            <a:ext cx="51846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Lending Management System problem and scope are defined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ER/EER model, relational schema and 3NF design are finalized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schema and scope for all later 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143000"/>
            <a:ext cx="5532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143000"/>
            <a:ext cx="64008" cy="3291840"/>
          </a:xfrm>
          <a:prstGeom prst="rect">
            <a:avLst/>
          </a:prstGeom>
          <a:solidFill>
            <a:srgbClr val="D9822B"/>
          </a:solidFill>
          <a:ln w="3175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2344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phases (planned, not yet done)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581912"/>
            <a:ext cx="51846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finalized design is the foundation for later implementation phases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creation, connectivity and the application will follow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Phase 2 or Phase 3 work is claimed as completed here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11274552" cy="1188720"/>
          </a:xfrm>
          <a:prstGeom prst="rect">
            <a:avLst/>
          </a:prstGeom>
          <a:solidFill>
            <a:srgbClr val="0B1F3A"/>
          </a:solidFill>
          <a:ln w="3175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754880"/>
            <a:ext cx="11274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Jiyal Harshith V (25BCE0035)  ·  Dhevananth K (25BAI0136)  ·  Jacob Decker J (25BCE0070)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Lending Management System - Phase 1</dc:title>
  <dc:subject>PptxGenJS Presentation</dc:subject>
  <dc:creator>PptxGenJS</dc:creator>
  <cp:lastModifiedBy>PptxGenJS</cp:lastModifiedBy>
  <cp:revision>1</cp:revision>
  <dcterms:created xsi:type="dcterms:W3CDTF">2026-10-07T18:22:51Z</dcterms:created>
  <dcterms:modified xsi:type="dcterms:W3CDTF">2026-10-07T18:22:51Z</dcterms:modified>
</cp:coreProperties>
</file>